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523721" y="3864445"/>
            <a:ext cx="2650201" cy="861497"/>
          </a:xfrm>
        </p:spPr>
        <p:txBody>
          <a:bodyPr vert="horz" lIns="91440" tIns="45720" rIns="91440" bIns="45720" rtlCol="0" anchor="t">
            <a:normAutofit/>
          </a:bodyPr>
          <a:lstStyle/>
          <a:p>
            <a:pPr algn="r"/>
            <a:r>
              <a:rPr lang="en-US" sz="2400" b="0" dirty="0">
                <a:solidFill>
                  <a:schemeClr val="tx1"/>
                </a:solidFill>
              </a:rPr>
              <a:t>Varun Patil</a:t>
            </a:r>
            <a:endParaRPr lang="en-IN" sz="2400" b="0" dirty="0">
              <a:solidFill>
                <a:schemeClr val="tx1"/>
              </a:solidFill>
            </a:endParaRPr>
          </a:p>
          <a:p>
            <a:pPr algn="r"/>
            <a:r>
              <a:rPr lang="en-US" sz="1400" b="0" dirty="0">
                <a:solidFill>
                  <a:schemeClr val="tx1"/>
                </a:solidFill>
              </a:rPr>
              <a:t>VOIS AICTE Batch 2026-2027</a:t>
            </a:r>
            <a:endParaRPr lang="en-IN" sz="14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795936" y="4804971"/>
            <a:ext cx="3853541" cy="584775"/>
          </a:xfrm>
          <a:prstGeom prst="rect">
            <a:avLst/>
          </a:prstGeom>
          <a:noFill/>
        </p:spPr>
        <p:txBody>
          <a:bodyPr wrap="square" rtlCol="0">
            <a:spAutoFit/>
          </a:bodyPr>
          <a:lstStyle/>
          <a:p>
            <a:r>
              <a:rPr lang="en-US" b="1" dirty="0"/>
              <a:t>AICTE STU ID : </a:t>
            </a:r>
            <a:r>
              <a:rPr lang="en-US" sz="1400" b="1" dirty="0"/>
              <a:t>isSTU6a6b18358db7e1785403445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51957" y="1520992"/>
            <a:ext cx="6431280" cy="4319687"/>
          </a:xfrm>
        </p:spPr>
        <p:txBody>
          <a:bodyPr vert="horz" lIns="91440" tIns="45720" rIns="91440" bIns="45720" rtlCol="0" anchor="t">
            <a:noAutofit/>
          </a:bodyPr>
          <a:lstStyle/>
          <a:p>
            <a:pPr>
              <a:lnSpc>
                <a:spcPct val="100000"/>
              </a:lnSpc>
            </a:pPr>
            <a:r>
              <a:rPr lang="en-IN"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dirty="0" err="1"/>
              <a:t>analyze</a:t>
            </a:r>
            <a:r>
              <a:rPr lang="en-IN"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206978" y="494695"/>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202582" y="1960450"/>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023493" y="1278294"/>
            <a:ext cx="6300237" cy="4926562"/>
          </a:xfrm>
        </p:spPr>
        <p:txBody>
          <a:bodyPr>
            <a:noAutofit/>
          </a:bodyPr>
          <a:lstStyle/>
          <a:p>
            <a:br>
              <a:rPr lang="en-GB" dirty="0"/>
            </a:br>
            <a:r>
              <a:rPr lang="en-GB" sz="2000" b="0" dirty="0"/>
              <a:t>This project analyzes a seasonal agriculture performance dataset of 4,000 farm records across 28 variables covering environmental conditions, farming practices, resource usage and economic outcomes. Using Python (Pandas, NumPy, Matplotlib, Seaborn), the data is cleaned and explored through descriptive statistics and univariate, bivariate and multivariate analysis to understand how yield, profit and water usage vary across the Kharif, Rabi and Zaid seasons, and to derive evidence-based, data-driven agricultural insights and recommendations.</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EF2A50C3-C74B-1D72-8521-7508C3E70299}"/>
              </a:ext>
            </a:extLst>
          </p:cNvPr>
          <p:cNvSpPr txBox="1"/>
          <p:nvPr/>
        </p:nvSpPr>
        <p:spPr>
          <a:xfrm>
            <a:off x="467359" y="844176"/>
            <a:ext cx="6102220" cy="830997"/>
          </a:xfrm>
          <a:prstGeom prst="rect">
            <a:avLst/>
          </a:prstGeom>
          <a:noFill/>
        </p:spPr>
        <p:txBody>
          <a:bodyPr wrap="square">
            <a:spAutoFit/>
          </a:bodyPr>
          <a:lstStyle/>
          <a:p>
            <a:r>
              <a:rPr lang="en-GB" sz="4800" dirty="0"/>
              <a:t>Project Description</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32110" y="1933019"/>
            <a:ext cx="7904481" cy="3990023"/>
          </a:xfrm>
        </p:spPr>
        <p:txBody>
          <a:bodyPr>
            <a:normAutofit fontScale="85000" lnSpcReduction="10000"/>
          </a:bodyPr>
          <a:lstStyle/>
          <a:p>
            <a:pPr algn="just">
              <a:lnSpc>
                <a:spcPct val="150000"/>
              </a:lnSpc>
            </a:pPr>
            <a:r>
              <a:rPr sz="2000"/>
              <a:t>Farmers and farm owners - to compare seasonal crop and irrigation choices</a:t>
            </a:r>
            <a:endParaRPr lang="en-IN" sz="3600" dirty="0"/>
          </a:p>
          <a:p>
            <a:pPr algn="just">
              <a:lnSpc>
                <a:spcPct val="150000"/>
              </a:lnSpc>
            </a:pPr>
            <a:r>
              <a:rPr sz="2000"/>
              <a:t>Agricultural policymakers and government agencies - for evidence-based seasonal planning</a:t>
            </a:r>
            <a:endParaRPr lang="en-IN" sz="3600" dirty="0"/>
          </a:p>
          <a:p>
            <a:pPr algn="just">
              <a:lnSpc>
                <a:spcPct val="150000"/>
              </a:lnSpc>
            </a:pPr>
            <a:r>
              <a:rPr sz="2000"/>
              <a:t>Agribusiness and agri-input companies - to align products with seasonal demand</a:t>
            </a:r>
            <a:endParaRPr lang="en-IN" sz="3600" dirty="0"/>
          </a:p>
          <a:p>
            <a:pPr algn="just">
              <a:lnSpc>
                <a:spcPct val="150000"/>
              </a:lnSpc>
            </a:pPr>
            <a:r>
              <a:rPr sz="2000"/>
              <a:t>Agricultural researchers and data analysts - to study seasonal patterns and trends</a:t>
            </a:r>
            <a:endParaRPr lang="en-IN" sz="3600" dirty="0"/>
          </a:p>
          <a:p>
            <a:pPr algn="just">
              <a:lnSpc>
                <a:spcPct val="150000"/>
              </a:lnSpc>
            </a:pPr>
            <a:r>
              <a:rPr sz="2000"/>
              <a:t>Banks, insurers and financial institutions - to assess seasonal risk for credit and crop insurance</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6023388"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027058"/>
            <a:ext cx="1950098"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10342" y="1432560"/>
            <a:ext cx="8307977" cy="4854270"/>
          </a:xfrm>
        </p:spPr>
        <p:txBody>
          <a:bodyPr/>
          <a:lstStyle/>
          <a:p>
            <a:pPr lvl="1">
              <a:lnSpc>
                <a:spcPct val="150000"/>
              </a:lnSpc>
            </a:pPr>
            <a:r>
              <a:rPr sz="2000" dirty="0"/>
              <a:t>Python - core programming language for data analysis</a:t>
            </a:r>
            <a:endParaRPr lang="en-IN" dirty="0"/>
          </a:p>
          <a:p>
            <a:pPr lvl="1">
              <a:lnSpc>
                <a:spcPct val="150000"/>
              </a:lnSpc>
            </a:pPr>
            <a:r>
              <a:rPr sz="2000" dirty="0"/>
              <a:t>Pandas &amp; NumPy - data cleaning, wrangling and numerical computation</a:t>
            </a:r>
            <a:endParaRPr lang="en-IN" dirty="0"/>
          </a:p>
          <a:p>
            <a:pPr lvl="1">
              <a:lnSpc>
                <a:spcPct val="150000"/>
              </a:lnSpc>
            </a:pPr>
            <a:r>
              <a:rPr sz="2000" dirty="0"/>
              <a:t>Matplotlib &amp; Seaborn - univariate, bivariate and multivariate visualizations</a:t>
            </a:r>
            <a:endParaRPr lang="en-IN" dirty="0"/>
          </a:p>
          <a:p>
            <a:pPr lvl="1">
              <a:lnSpc>
                <a:spcPct val="150000"/>
              </a:lnSpc>
            </a:pPr>
            <a:r>
              <a:rPr sz="2000" dirty="0"/>
              <a:t>Jupyter Notebook / Google </a:t>
            </a:r>
            <a:r>
              <a:rPr sz="2000" dirty="0" err="1"/>
              <a:t>Colab</a:t>
            </a:r>
            <a:r>
              <a:rPr sz="2000" dirty="0"/>
              <a:t> - interactive analysis and documentation</a:t>
            </a:r>
            <a:endParaRPr lang="en-IN" dirty="0"/>
          </a:p>
          <a:p>
            <a:pPr lvl="1">
              <a:lnSpc>
                <a:spcPct val="150000"/>
              </a:lnSpc>
            </a:pPr>
            <a:r>
              <a:rPr sz="2000" dirty="0"/>
              <a:t>Dataset: seasonal_agriculture_performance_dataset.csv (4,000 records x 28 features)</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153031" y="205914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300" b="1" dirty="0"/>
              <a:t>Dataset: 4,000 farm records | 28 variables | 3 seasons</a:t>
            </a:r>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320982" y="309596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300" b="1" dirty="0"/>
              <a:t>Season split: Kharif 1,779 | Rabi 1,627 | Zaid 594 records</a:t>
            </a:r>
            <a:endParaRPr lang="en-GB" sz="2000" dirty="0"/>
          </a:p>
        </p:txBody>
      </p:sp>
      <p:pic>
        <p:nvPicPr>
          <p:cNvPr id="24" name="Picture 23" descr="cell40_0.png"/>
          <p:cNvPicPr>
            <a:picLocks noChangeAspect="1"/>
          </p:cNvPicPr>
          <p:nvPr/>
        </p:nvPicPr>
        <p:blipFill>
          <a:blip r:embed="rId3"/>
          <a:stretch>
            <a:fillRect/>
          </a:stretch>
        </p:blipFill>
        <p:spPr>
          <a:xfrm>
            <a:off x="3868221" y="1279000"/>
            <a:ext cx="4659238" cy="4300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1"/>
              <a:t>Average Yield (tonnes/ha)</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951095"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1" dirty="0"/>
              <a:t>Kharif 5.63 | Rabi 5.04 | Zaid 4.64</a:t>
            </a:r>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582161"/>
            <a:ext cx="4275138" cy="477520"/>
          </a:xfrm>
        </p:spPr>
        <p:txBody>
          <a:bodyPr>
            <a:normAutofit lnSpcReduction="10000"/>
          </a:bodyPr>
          <a:lstStyle/>
          <a:p>
            <a:pPr marL="0" indent="0">
              <a:buNone/>
            </a:pPr>
            <a:r>
              <a:rPr lang="en-US" sz="1400" i="1" dirty="0"/>
              <a:t>Yield is highest in Kharif and lowest in Zaid season, driven by rainfall availability.</a:t>
            </a:r>
            <a:endParaRPr lang="en-IN" dirty="0"/>
          </a:p>
        </p:txBody>
      </p:sp>
      <p:pic>
        <p:nvPicPr>
          <p:cNvPr id="31" name="Picture 30" descr="cell43_0.png"/>
          <p:cNvPicPr>
            <a:picLocks noChangeAspect="1"/>
          </p:cNvPicPr>
          <p:nvPr/>
        </p:nvPicPr>
        <p:blipFill>
          <a:blip r:embed="rId3"/>
          <a:stretch>
            <a:fillRect/>
          </a:stretch>
        </p:blipFill>
        <p:spPr>
          <a:xfrm>
            <a:off x="1046421" y="2248239"/>
            <a:ext cx="6803305" cy="4200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414699" y="191011"/>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148689"/>
            <a:ext cx="3343561" cy="3604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1" dirty="0"/>
              <a:t>Average Profit (INR)</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699999" y="916613"/>
            <a:ext cx="2837337" cy="464151"/>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1" dirty="0"/>
              <a:t>Kharif Rs.1,78,915 | Rabi Rs.87,689 | Zaid -Rs.24,805</a:t>
            </a:r>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255667" y="1515233"/>
            <a:ext cx="4275138" cy="464151"/>
          </a:xfrm>
        </p:spPr>
        <p:txBody>
          <a:bodyPr>
            <a:normAutofit fontScale="92500" lnSpcReduction="10000"/>
          </a:bodyPr>
          <a:lstStyle/>
          <a:p>
            <a:pPr marL="0" indent="0">
              <a:buNone/>
            </a:pPr>
            <a:r>
              <a:rPr lang="en-US" sz="1400" i="1" dirty="0"/>
              <a:t>Zaid season shows a net average loss, while Kharif is the most profitable season.</a:t>
            </a:r>
            <a:endParaRPr lang="en-IN" dirty="0"/>
          </a:p>
        </p:txBody>
      </p:sp>
      <p:pic>
        <p:nvPicPr>
          <p:cNvPr id="31" name="Picture 30" descr="cell45_0.png"/>
          <p:cNvPicPr>
            <a:picLocks noChangeAspect="1"/>
          </p:cNvPicPr>
          <p:nvPr/>
        </p:nvPicPr>
        <p:blipFill>
          <a:blip r:embed="rId3"/>
          <a:stretch>
            <a:fillRect/>
          </a:stretch>
        </p:blipFill>
        <p:spPr>
          <a:xfrm>
            <a:off x="1298347" y="2100000"/>
            <a:ext cx="6803305" cy="4200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26114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1" dirty="0"/>
              <a:t>Rainfall vs Yield</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424219" y="1090043"/>
            <a:ext cx="3833373" cy="357486"/>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1" dirty="0"/>
              <a:t>Positive association observed across seasons</a:t>
            </a:r>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424861" y="1536520"/>
            <a:ext cx="4275138" cy="477520"/>
          </a:xfrm>
        </p:spPr>
        <p:txBody>
          <a:bodyPr>
            <a:normAutofit lnSpcReduction="10000"/>
          </a:bodyPr>
          <a:lstStyle/>
          <a:p>
            <a:pPr marL="0" indent="0">
              <a:buNone/>
            </a:pPr>
            <a:r>
              <a:rPr lang="en-US" sz="1400" i="1" dirty="0"/>
              <a:t>Higher rainfall is generally associated with higher yield, though variability remains high.</a:t>
            </a:r>
            <a:endParaRPr lang="en-IN" dirty="0"/>
          </a:p>
        </p:txBody>
      </p:sp>
      <p:pic>
        <p:nvPicPr>
          <p:cNvPr id="31" name="Picture 30" descr="cell48_0.png"/>
          <p:cNvPicPr>
            <a:picLocks noChangeAspect="1"/>
          </p:cNvPicPr>
          <p:nvPr/>
        </p:nvPicPr>
        <p:blipFill>
          <a:blip r:embed="rId3"/>
          <a:stretch>
            <a:fillRect/>
          </a:stretch>
        </p:blipFill>
        <p:spPr>
          <a:xfrm>
            <a:off x="1298347" y="2100000"/>
            <a:ext cx="6803305" cy="420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33303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1" dirty="0"/>
              <a:t>Correlation Analysis</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933523" y="1082632"/>
            <a:ext cx="3343561" cy="3854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1" dirty="0"/>
              <a:t>Yield and Profit are positively correlated</a:t>
            </a:r>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489923" y="1608410"/>
            <a:ext cx="4275138" cy="477520"/>
          </a:xfrm>
        </p:spPr>
        <p:txBody>
          <a:bodyPr>
            <a:normAutofit fontScale="92500" lnSpcReduction="10000"/>
          </a:bodyPr>
          <a:lstStyle/>
          <a:p>
            <a:pPr marL="0" indent="0">
              <a:buNone/>
            </a:pPr>
            <a:r>
              <a:rPr lang="en-US" sz="1400" i="1" dirty="0"/>
              <a:t>Yield, production and profit move together; irrigation method and rainfall are key influencing factors.</a:t>
            </a:r>
            <a:endParaRPr lang="en-IN" dirty="0"/>
          </a:p>
        </p:txBody>
      </p:sp>
      <p:pic>
        <p:nvPicPr>
          <p:cNvPr id="31" name="Picture 30" descr="cell58_0.png"/>
          <p:cNvPicPr>
            <a:picLocks noChangeAspect="1"/>
          </p:cNvPicPr>
          <p:nvPr/>
        </p:nvPicPr>
        <p:blipFill>
          <a:blip r:embed="rId3"/>
          <a:stretch>
            <a:fillRect/>
          </a:stretch>
        </p:blipFill>
        <p:spPr>
          <a:xfrm>
            <a:off x="587829" y="2175400"/>
            <a:ext cx="7464489" cy="439304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451183" y="89817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61348" y="120158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75957" y="2100000"/>
            <a:ext cx="6657904" cy="3170099"/>
          </a:xfrm>
          <a:prstGeom prst="rect">
            <a:avLst/>
          </a:prstGeom>
          <a:noFill/>
        </p:spPr>
        <p:txBody>
          <a:bodyPr wrap="square">
            <a:spAutoFit/>
          </a:bodyPr>
          <a:lstStyle/>
          <a:p>
            <a:r>
              <a:rPr sz="2000" dirty="0"/>
              <a:t>•  Incorporate real-time weather and market price data for dynamic seasonal forecasting</a:t>
            </a:r>
          </a:p>
          <a:p>
            <a:r>
              <a:rPr sz="2000" dirty="0"/>
              <a:t>•  Apply machine learning (regression/classification) to predict yield, profit and risk</a:t>
            </a:r>
          </a:p>
          <a:p>
            <a:r>
              <a:rPr sz="2000" dirty="0"/>
              <a:t>•  Extend to district/state-level and multi-year trend analysis</a:t>
            </a:r>
          </a:p>
          <a:p>
            <a:r>
              <a:rPr sz="2000" dirty="0"/>
              <a:t>•  Build an interactive dashboard for farmers and policymakers</a:t>
            </a:r>
          </a:p>
          <a:p>
            <a:r>
              <a:rPr sz="2000" dirty="0"/>
              <a:t>•  Study the impact of climate change on long-term seasonal agricultural performance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[Add your GitHub repository link here, e.g. https://github.com/&lt;your-username&gt;/seasonal-agriculture-performance-analysis]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rtificate_0.png"/>
          <p:cNvPicPr>
            <a:picLocks noChangeAspect="1"/>
          </p:cNvPicPr>
          <p:nvPr/>
        </p:nvPicPr>
        <p:blipFill>
          <a:blip r:embed="rId3"/>
          <a:stretch>
            <a:fillRect/>
          </a:stretch>
        </p:blipFill>
        <p:spPr>
          <a:xfrm>
            <a:off x="1179439" y="1487411"/>
            <a:ext cx="7070737" cy="500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120911" y="582853"/>
            <a:ext cx="71801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094024" y="2627766"/>
            <a:ext cx="3630821" cy="700115"/>
          </a:xfrm>
        </p:spPr>
        <p:txBody>
          <a:bodyPr>
            <a:normAutofit/>
          </a:bodyPr>
          <a:lstStyle/>
          <a:p>
            <a:r>
              <a:rPr lang="en-US" sz="1400" dirty="0"/>
              <a:t>isSTU6a6b18358db7e1785403445</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1427232" y="2598665"/>
            <a:ext cx="2301870" cy="700114"/>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600" b="1" dirty="0"/>
              <a:t>Student ID</a:t>
            </a:r>
            <a:endParaRPr lang="en-IN" sz="16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1239545" y="3808328"/>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600" b="1" dirty="0"/>
              <a:t>Project</a:t>
            </a:r>
            <a:endParaRPr lang="en-IN" sz="16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1239545" y="462953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600" b="1" dirty="0"/>
              <a:t>Program</a:t>
            </a:r>
            <a:endParaRPr lang="en-IN" sz="16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3401935" y="3779226"/>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400" dirty="0"/>
              <a:t>Seasonal Agriculture Performance Analysis</a:t>
            </a:r>
            <a:endParaRPr lang="en-GB" sz="1400"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3499426" y="4672680"/>
            <a:ext cx="2596574" cy="73667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400" dirty="0"/>
              <a:t>VOIS AICTE Batch 2026-2027</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727865" y="2193977"/>
            <a:ext cx="2139696" cy="344312"/>
          </a:xfrm>
        </p:spPr>
        <p:txBody>
          <a:bodyPr>
            <a:normAutofit/>
          </a:bodyPr>
          <a:lstStyle/>
          <a:p>
            <a:r>
              <a:rPr lang="en-IN" sz="1600" b="1" dirty="0"/>
              <a:t>Varun Patil</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1398</TotalTime>
  <Words>578</Words>
  <Application>Microsoft Office PowerPoint</Application>
  <PresentationFormat>Widescreen</PresentationFormat>
  <Paragraphs>57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 This project analyzes a seasonal agriculture performance dataset of 4,000 farm records across 28 variables covering environmental conditions, farming practices, resource usage and economic outcomes. Using Python (Pandas, NumPy, Matplotlib, Seaborn), the data is cleaned and explored through descriptive statistics and univariate, bivariate and multivariate analysis to understand how yield, profit and water usage vary across the Kharif, Rabi and Zaid seasons, and to derive evidence-based, data-driven agricultural insights and recommendations.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Varun Patil</cp:lastModifiedBy>
  <cp:revision>99</cp:revision>
  <dcterms:created xsi:type="dcterms:W3CDTF">2021-07-11T13:13:15Z</dcterms:created>
  <dcterms:modified xsi:type="dcterms:W3CDTF">2026-09-14T14:13:21Z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